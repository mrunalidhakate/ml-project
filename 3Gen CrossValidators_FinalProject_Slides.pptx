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4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7" r:id="rId11"/>
    <p:sldId id="265" r:id="rId12"/>
    <p:sldId id="266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0648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184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D1B2A"/>
                </a:solidFill>
                <a:latin typeface="Arial"/>
              </a:rPr>
              <a:t>Ablation Study: Logistic Regression Baseline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Weighted F1 Score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D9D-0046-A552-F931286F0E31}"/>
              </c:ext>
            </c:extLst>
          </c:dPt>
          <c:dPt>
            <c:idx val="1"/>
            <c:invertIfNegative val="0"/>
            <c:bubble3D val="0"/>
            <c:spPr>
              <a:solidFill>
                <a:srgbClr val="00B4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D9D-0046-A552-F931286F0E31}"/>
              </c:ext>
            </c:extLst>
          </c:dPt>
          <c:dPt>
            <c:idx val="2"/>
            <c:invertIfNegative val="0"/>
            <c:bubble3D val="0"/>
            <c:spPr>
              <a:solidFill>
                <a:srgbClr val="1B2F4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D9D-0046-A552-F931286F0E3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0D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Structured Only</c:v>
                </c:pt>
                <c:pt idx="1">
                  <c:v>Text Only</c:v>
                </c:pt>
                <c:pt idx="2">
                  <c:v>Combined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0.9</c:v>
                </c:pt>
                <c:pt idx="2">
                  <c:v>0.88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D9D-0046-A552-F931286F0E3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D1B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0F7F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D1B2A"/>
                </a:solidFill>
                <a:latin typeface="Arial"/>
              </a:rPr>
              <a:t>Model Comparison — Combined Feature Set (25-Fold CV)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Weighted F1 (Combined Features)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082-F44C-B832-A1DF428CA787}"/>
              </c:ext>
            </c:extLst>
          </c:dPt>
          <c:dPt>
            <c:idx val="1"/>
            <c:invertIfNegative val="0"/>
            <c:bubble3D val="0"/>
            <c:spPr>
              <a:solidFill>
                <a:srgbClr val="00B4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082-F44C-B832-A1DF428CA787}"/>
              </c:ext>
            </c:extLst>
          </c:dPt>
          <c:dPt>
            <c:idx val="2"/>
            <c:invertIfNegative val="0"/>
            <c:bubble3D val="0"/>
            <c:spPr>
              <a:solidFill>
                <a:srgbClr val="1B2F4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082-F44C-B832-A1DF428CA787}"/>
              </c:ext>
            </c:extLst>
          </c:dPt>
          <c:dPt>
            <c:idx val="3"/>
            <c:invertIfNegative val="0"/>
            <c:bubble3D val="0"/>
            <c:spPr>
              <a:solidFill>
                <a:srgbClr val="8888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082-F44C-B832-A1DF428CA78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0D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Logistic Regression</c:v>
                </c:pt>
                <c:pt idx="1">
                  <c:v>Random Forest</c:v>
                </c:pt>
                <c:pt idx="2">
                  <c:v>LightGBM</c:v>
                </c:pt>
                <c:pt idx="3">
                  <c:v>Stacking Classifier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0.87</c:v>
                </c:pt>
                <c:pt idx="1">
                  <c:v>0.88529999999999998</c:v>
                </c:pt>
                <c:pt idx="2">
                  <c:v>0.88200000000000001</c:v>
                </c:pt>
                <c:pt idx="3">
                  <c:v>0.88100000000000001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082-F44C-B832-A1DF428CA78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D1B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0F7FA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D1B2A"/>
                </a:solidFill>
                <a:latin typeface="Arial"/>
              </a:rPr>
              <a:t>Sensitivity Analysis: Security Threshold Trade-offs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Security Recall</c:v>
                </c:pt>
              </c:strCache>
            </c:strRef>
          </c:tx>
          <c:spPr>
            <a:ln w="31750" cap="flat">
              <a:solidFill>
                <a:srgbClr val="E6394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63946"/>
              </a:solidFill>
              <a:ln w="9525" cap="flat">
                <a:solidFill>
                  <a:srgbClr val="E63946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0.05</c:v>
                </c:pt>
                <c:pt idx="1">
                  <c:v>0.075</c:v>
                </c:pt>
                <c:pt idx="2">
                  <c:v>0.10</c:v>
                </c:pt>
                <c:pt idx="3">
                  <c:v>0.125</c:v>
                </c:pt>
                <c:pt idx="4">
                  <c:v>0.15</c:v>
                </c:pt>
                <c:pt idx="5">
                  <c:v>0.175</c:v>
                </c:pt>
                <c:pt idx="6">
                  <c:v>0.20</c:v>
                </c:pt>
                <c:pt idx="7">
                  <c:v>0.25</c:v>
                </c:pt>
                <c:pt idx="8">
                  <c:v>0.30</c:v>
                </c:pt>
                <c:pt idx="9">
                  <c:v>0.35</c:v>
                </c:pt>
                <c:pt idx="10">
                  <c:v>0.40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</c:v>
                </c:pt>
                <c:pt idx="1">
                  <c:v>0.99</c:v>
                </c:pt>
                <c:pt idx="2">
                  <c:v>0.97</c:v>
                </c:pt>
                <c:pt idx="3">
                  <c:v>0.92</c:v>
                </c:pt>
                <c:pt idx="4">
                  <c:v>0.88</c:v>
                </c:pt>
                <c:pt idx="5">
                  <c:v>0.82</c:v>
                </c:pt>
                <c:pt idx="6">
                  <c:v>0.75</c:v>
                </c:pt>
                <c:pt idx="7">
                  <c:v>0.61</c:v>
                </c:pt>
                <c:pt idx="8">
                  <c:v>0.5</c:v>
                </c:pt>
                <c:pt idx="9">
                  <c:v>0.38</c:v>
                </c:pt>
                <c:pt idx="10">
                  <c:v>0.27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A7C7-C74B-AD82-45DC2876481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Security Precision</c:v>
                </c:pt>
              </c:strCache>
            </c:strRef>
          </c:tx>
          <c:spPr>
            <a:ln w="31750" cap="flat">
              <a:solidFill>
                <a:srgbClr val="00B4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B4D8"/>
              </a:solidFill>
              <a:ln w="9525" cap="flat">
                <a:solidFill>
                  <a:srgbClr val="00B4D8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0.05</c:v>
                </c:pt>
                <c:pt idx="1">
                  <c:v>0.075</c:v>
                </c:pt>
                <c:pt idx="2">
                  <c:v>0.10</c:v>
                </c:pt>
                <c:pt idx="3">
                  <c:v>0.125</c:v>
                </c:pt>
                <c:pt idx="4">
                  <c:v>0.15</c:v>
                </c:pt>
                <c:pt idx="5">
                  <c:v>0.175</c:v>
                </c:pt>
                <c:pt idx="6">
                  <c:v>0.20</c:v>
                </c:pt>
                <c:pt idx="7">
                  <c:v>0.25</c:v>
                </c:pt>
                <c:pt idx="8">
                  <c:v>0.30</c:v>
                </c:pt>
                <c:pt idx="9">
                  <c:v>0.35</c:v>
                </c:pt>
                <c:pt idx="10">
                  <c:v>0.40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0.42</c:v>
                </c:pt>
                <c:pt idx="1">
                  <c:v>0.51</c:v>
                </c:pt>
                <c:pt idx="2">
                  <c:v>0.61</c:v>
                </c:pt>
                <c:pt idx="3">
                  <c:v>0.72</c:v>
                </c:pt>
                <c:pt idx="4">
                  <c:v>0.8</c:v>
                </c:pt>
                <c:pt idx="5">
                  <c:v>0.85</c:v>
                </c:pt>
                <c:pt idx="6">
                  <c:v>0.88</c:v>
                </c:pt>
                <c:pt idx="7">
                  <c:v>0.9</c:v>
                </c:pt>
                <c:pt idx="8">
                  <c:v>0.92</c:v>
                </c:pt>
                <c:pt idx="9">
                  <c:v>0.93</c:v>
                </c:pt>
                <c:pt idx="10">
                  <c:v>0.93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A7C7-C74B-AD82-45DC2876481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Onboarding Precision</c:v>
                </c:pt>
              </c:strCache>
            </c:strRef>
          </c:tx>
          <c:spPr>
            <a:ln w="31750" cap="flat">
              <a:solidFill>
                <a:srgbClr val="2EC4B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0.05</c:v>
                </c:pt>
                <c:pt idx="1">
                  <c:v>0.075</c:v>
                </c:pt>
                <c:pt idx="2">
                  <c:v>0.10</c:v>
                </c:pt>
                <c:pt idx="3">
                  <c:v>0.125</c:v>
                </c:pt>
                <c:pt idx="4">
                  <c:v>0.15</c:v>
                </c:pt>
                <c:pt idx="5">
                  <c:v>0.175</c:v>
                </c:pt>
                <c:pt idx="6">
                  <c:v>0.20</c:v>
                </c:pt>
                <c:pt idx="7">
                  <c:v>0.25</c:v>
                </c:pt>
                <c:pt idx="8">
                  <c:v>0.30</c:v>
                </c:pt>
                <c:pt idx="9">
                  <c:v>0.35</c:v>
                </c:pt>
                <c:pt idx="10">
                  <c:v>0.40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0.88</c:v>
                </c:pt>
                <c:pt idx="1">
                  <c:v>0.89</c:v>
                </c:pt>
                <c:pt idx="2">
                  <c:v>0.9</c:v>
                </c:pt>
                <c:pt idx="3">
                  <c:v>0.91</c:v>
                </c:pt>
                <c:pt idx="4">
                  <c:v>0.91</c:v>
                </c:pt>
                <c:pt idx="5">
                  <c:v>0.92</c:v>
                </c:pt>
                <c:pt idx="6">
                  <c:v>0.93</c:v>
                </c:pt>
                <c:pt idx="7">
                  <c:v>0.93</c:v>
                </c:pt>
                <c:pt idx="8">
                  <c:v>0.93</c:v>
                </c:pt>
                <c:pt idx="9">
                  <c:v>0.93</c:v>
                </c:pt>
                <c:pt idx="10">
                  <c:v>0.93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A7C7-C74B-AD82-45DC287648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D1B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0F7FA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D1B2A"/>
                </a:solidFill>
                <a:latin typeface="Arial"/>
              </a:rPr>
              <a:t>Error Rates by Department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Error Rate by Department</c:v>
                </c:pt>
              </c:strCache>
            </c:strRef>
          </c:tx>
          <c:spPr>
            <a:solidFill>
              <a:srgbClr val="E6394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2C1-6E45-B64A-A4915E5788FC}"/>
              </c:ext>
            </c:extLst>
          </c:dPt>
          <c:dPt>
            <c:idx val="1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C1-6E45-B64A-A4915E5788FC}"/>
              </c:ext>
            </c:extLst>
          </c:dPt>
          <c:dPt>
            <c:idx val="2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2C1-6E45-B64A-A4915E5788FC}"/>
              </c:ext>
            </c:extLst>
          </c:dPt>
          <c:dPt>
            <c:idx val="3"/>
            <c:invertIfNegative val="0"/>
            <c:bubble3D val="0"/>
            <c:spPr>
              <a:solidFill>
                <a:srgbClr val="00B4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2C1-6E45-B64A-A4915E5788FC}"/>
              </c:ext>
            </c:extLst>
          </c:dPt>
          <c:dPt>
            <c:idx val="4"/>
            <c:invertIfNegative val="0"/>
            <c:bubble3D val="0"/>
            <c:spPr>
              <a:solidFill>
                <a:srgbClr val="00B4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2C1-6E45-B64A-A4915E5788FC}"/>
              </c:ext>
            </c:extLst>
          </c:dPt>
          <c:dPt>
            <c:idx val="5"/>
            <c:invertIfNegative val="0"/>
            <c:bubble3D val="0"/>
            <c:spPr>
              <a:solidFill>
                <a:srgbClr val="2EC4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2C1-6E45-B64A-A4915E5788F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D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Feature Request</c:v>
                </c:pt>
                <c:pt idx="1">
                  <c:v>Security*</c:v>
                </c:pt>
                <c:pt idx="2">
                  <c:v>Billing</c:v>
                </c:pt>
                <c:pt idx="3">
                  <c:v>Technical</c:v>
                </c:pt>
                <c:pt idx="4">
                  <c:v>Account</c:v>
                </c:pt>
                <c:pt idx="5">
                  <c:v>Onboarding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22.39</c:v>
                </c:pt>
                <c:pt idx="1">
                  <c:v>8.5</c:v>
                </c:pt>
                <c:pt idx="2">
                  <c:v>9.1999999999999993</c:v>
                </c:pt>
                <c:pt idx="3">
                  <c:v>7.8</c:v>
                </c:pt>
                <c:pt idx="4">
                  <c:v>6.5</c:v>
                </c:pt>
                <c:pt idx="5">
                  <c:v>5.0999999999999996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52C1-6E45-B64A-A4915E5788F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D1B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0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2984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6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1B2F45"/>
          </a:solidFill>
          <a:ln w="12700">
            <a:solidFill>
              <a:srgbClr val="1B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583680" y="-457200"/>
            <a:ext cx="3200400" cy="3200400"/>
          </a:xfrm>
          <a:prstGeom prst="ellipse">
            <a:avLst/>
          </a:prstGeom>
          <a:solidFill>
            <a:srgbClr val="0077A8">
              <a:alpha val="30000"/>
            </a:srgbClr>
          </a:solidFill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548640"/>
            <a:ext cx="1645920" cy="1645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548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00B4D8"/>
                </a:solidFill>
              </a:rPr>
              <a:t>TECHNOVA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65760" y="105156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</a:rPr>
              <a:t>Automated Support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</a:rPr>
              <a:t>Ticket Routing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65760" y="26974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0E0EF"/>
                </a:solidFill>
              </a:rPr>
              <a:t>AI-Powered Multi-Class Classification Solution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65760" y="3291840"/>
            <a:ext cx="502920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65760" y="3429000"/>
            <a:ext cx="7315200" cy="546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90E0EF"/>
                </a:solidFill>
              </a:rPr>
              <a:t>Team Name: </a:t>
            </a:r>
            <a:r>
              <a:rPr lang="en-US" sz="1400" dirty="0">
                <a:solidFill>
                  <a:schemeClr val="bg1"/>
                </a:solidFill>
              </a:rPr>
              <a:t>3Gen Cross Validators</a:t>
            </a:r>
          </a:p>
          <a:p>
            <a:r>
              <a:rPr lang="en-US" sz="1300" b="1" dirty="0">
                <a:solidFill>
                  <a:srgbClr val="90E0EF"/>
                </a:solidFill>
              </a:rPr>
              <a:t>Team: </a:t>
            </a:r>
            <a:r>
              <a:rPr lang="en-US" sz="1300" dirty="0" err="1">
                <a:solidFill>
                  <a:srgbClr val="FFFFFF"/>
                </a:solidFill>
              </a:rPr>
              <a:t>Alifya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Saify</a:t>
            </a:r>
            <a:r>
              <a:rPr lang="en-US" sz="1300" dirty="0">
                <a:solidFill>
                  <a:srgbClr val="FFFFFF"/>
                </a:solidFill>
              </a:rPr>
              <a:t> · Mrunali Dhakate · Roopa Shankar Rao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65760" y="412183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ISM6251 Graduate Final Project  |  May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AGENDA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502920" cy="71323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601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0058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</a:rPr>
              <a:t>Problem Statement &amp; Business Context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0040" y="187452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" y="1874520"/>
            <a:ext cx="502920" cy="71323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19202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</a:rPr>
              <a:t>Data &amp; Text Strategy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0040" y="278892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2788920"/>
            <a:ext cx="502920" cy="71323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27889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</a:rPr>
              <a:t>Model Development &amp; Ablation Study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20040" y="370332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3703320"/>
            <a:ext cx="502920" cy="71323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37033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37490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</a:rPr>
              <a:t>Model Selection — Why Random Forest?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754880" y="96012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960120"/>
            <a:ext cx="502920" cy="71323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54880" y="9601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349240" y="10058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</a:rPr>
              <a:t>Threshold Calibration &amp; Risk Management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754880" y="187452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54880" y="1874520"/>
            <a:ext cx="502920" cy="71323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5488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349240" y="19202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</a:rPr>
              <a:t>Performance Metrics &amp; Business Impact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754880" y="278892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754880" y="2788920"/>
            <a:ext cx="502920" cy="71323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54880" y="27889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07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3492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</a:rPr>
              <a:t>Critical Reflections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754880" y="3703320"/>
            <a:ext cx="4160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754880" y="3703320"/>
            <a:ext cx="502920" cy="71323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754880" y="37033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08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349240" y="37490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</a:rPr>
              <a:t>Next Steps &amp; Recommendations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Problem Statement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1005840"/>
          </a:xfrm>
          <a:prstGeom prst="rect">
            <a:avLst/>
          </a:prstGeom>
          <a:solidFill>
            <a:srgbClr val="FFF3E0"/>
          </a:solidFill>
          <a:ln w="254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24128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9601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</a:rPr>
              <a:t>TechNova's customer support team manually routes ~1,200 daily tickets across 6 departments, causing frequent misrouting that increases resolution time from 4.2 hours to 14.8 hours and negatively impacts customer satisfaction.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20040" y="2057400"/>
            <a:ext cx="1965960" cy="10058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20040" y="20574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1,200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320040" y="2651760"/>
            <a:ext cx="1965960" cy="384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E0EF"/>
                </a:solidFill>
              </a:rPr>
              <a:t>Tickets/Day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468880" y="2057400"/>
            <a:ext cx="1965960" cy="10058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468880" y="20574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6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2468880" y="2651760"/>
            <a:ext cx="1965960" cy="384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E0EF"/>
                </a:solidFill>
              </a:rPr>
              <a:t>Departments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17720" y="2057400"/>
            <a:ext cx="1965960" cy="10058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617720" y="20574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4.2 hrs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4617720" y="2651760"/>
            <a:ext cx="1965960" cy="384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E0EF"/>
                </a:solidFill>
              </a:rPr>
              <a:t>Ideal Resolution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766560" y="2057400"/>
            <a:ext cx="1965960" cy="1005840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766560" y="20574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14.8 hrs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766560" y="2651760"/>
            <a:ext cx="1965960" cy="384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E0EF"/>
                </a:solidFill>
              </a:rPr>
              <a:t>Misrouted Resolution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320040" y="3200400"/>
            <a:ext cx="8503920" cy="86868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91840"/>
            <a:ext cx="548640" cy="54864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143000" y="3218688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Objective: Automate ticket routing using ticket text + customer metadata to predict the correct department at first contact — eliminating the manual bottleneck.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20040" y="4160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Key Stakeholders: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320040" y="44622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• VP Customer Success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3108960" y="44622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• Department Leads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897880" y="44622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• Security Team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320040" y="47365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• Onboarding Team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3108960" y="47365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• Product Managers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Why These Metrics? Business-Aligned Evaluation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697480" cy="3977640"/>
          </a:xfrm>
          <a:prstGeom prst="rect">
            <a:avLst/>
          </a:prstGeom>
          <a:solidFill>
            <a:srgbClr val="F0F7F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2697480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69264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9144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</a:rPr>
              <a:t>PRIMARY METRIC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15087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D1B2A"/>
                </a:solidFill>
              </a:rPr>
              <a:t>Weighted F1-Score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11480" y="2011680"/>
            <a:ext cx="2514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Balances precision and recall across all 6 departments while accounting for class imbalance. Prevents majority classes (Technical, Billing) from dominating the score.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00400" y="914400"/>
            <a:ext cx="2697480" cy="3977640"/>
          </a:xfrm>
          <a:prstGeom prst="rect">
            <a:avLst/>
          </a:prstGeom>
          <a:solidFill>
            <a:srgbClr val="F0F7F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00400" y="914400"/>
            <a:ext cx="2697480" cy="502920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969264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49040" y="9144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</a:rPr>
              <a:t>CRITICAL CONSTRAINT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3291840" y="15087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D1B2A"/>
                </a:solidFill>
              </a:rPr>
              <a:t>Security Recall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291840" y="2011680"/>
            <a:ext cx="2514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We cannot afford to miss security incidents. A low threshold (12.5%) ensures near-perfect recall for Security tickets even at the cost of some false positives.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80760" y="914400"/>
            <a:ext cx="2697480" cy="3977640"/>
          </a:xfrm>
          <a:prstGeom prst="rect">
            <a:avLst/>
          </a:prstGeom>
          <a:solidFill>
            <a:srgbClr val="F0F7F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080760" y="914400"/>
            <a:ext cx="2697480" cy="50292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969264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29400" y="9144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</a:rPr>
              <a:t>EXPERIENCE GUARD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6172200" y="15087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D1B2A"/>
                </a:solidFill>
              </a:rPr>
              <a:t>Onboarding Precision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172200" y="2011680"/>
            <a:ext cx="2514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New customers must be routed correctly on first contact. High precision for Onboarding tickets protects first impressions and reduces churn risk.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320040" y="4983480"/>
            <a:ext cx="8503920" cy="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320040" y="457200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</a:rPr>
              <a:t>The combination of Weighted F1, Security Recall, and Onboarding Precision ensures evaluation aligns with both overall accuracy and specific high-stakes business priorities.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Data Strategy &amp; Feature Engineering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069080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87552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9144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 PIPELINE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0040" y="1481328"/>
            <a:ext cx="4069080" cy="731520"/>
          </a:xfrm>
          <a:prstGeom prst="rect">
            <a:avLst/>
          </a:prstGeom>
          <a:solidFill>
            <a:srgbClr val="F0F7FA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14813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A8"/>
                </a:solidFill>
              </a:rPr>
              <a:t>TF-IDF Vectorizer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7556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max_features=2,500 | ngram=(1,1) | min_df=2 | max_df=0.8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0040" y="2304288"/>
            <a:ext cx="4069080" cy="731520"/>
          </a:xfrm>
          <a:prstGeom prst="rect">
            <a:avLst/>
          </a:prstGeom>
          <a:solidFill>
            <a:srgbClr val="F0F7FA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23042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A8"/>
                </a:solidFill>
              </a:rPr>
              <a:t>Stop Words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25786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English stop words removed natively by TfidfVectorizer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20040" y="3127248"/>
            <a:ext cx="4069080" cy="731520"/>
          </a:xfrm>
          <a:prstGeom prst="rect">
            <a:avLst/>
          </a:prstGeom>
          <a:solidFill>
            <a:srgbClr val="F0F7FA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7200" y="31272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A8"/>
                </a:solidFill>
              </a:rPr>
              <a:t>TruncatedSVD (LSA)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34015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n_components=50 — compresses sparse matrix into 50 semantic dimensions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709160" y="914400"/>
            <a:ext cx="4114800" cy="457200"/>
          </a:xfrm>
          <a:prstGeom prst="rect">
            <a:avLst/>
          </a:prstGeom>
          <a:solidFill>
            <a:srgbClr val="1B2F4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987552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166360" y="9144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STRUCTURED PIPELINE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709160" y="1481328"/>
            <a:ext cx="4114800" cy="731520"/>
          </a:xfrm>
          <a:prstGeom prst="rect">
            <a:avLst/>
          </a:prstGeom>
          <a:solidFill>
            <a:srgbClr val="F0F7FA"/>
          </a:solidFill>
          <a:ln w="12700">
            <a:solidFill>
              <a:srgbClr val="1B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4846320" y="14813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Numerical Features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846320" y="17556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account_age_months, monthly_spend, num_open_tickets → StandardScaler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709160" y="2304288"/>
            <a:ext cx="4114800" cy="731520"/>
          </a:xfrm>
          <a:prstGeom prst="rect">
            <a:avLst/>
          </a:prstGeom>
          <a:solidFill>
            <a:srgbClr val="F0F7FA"/>
          </a:solidFill>
          <a:ln w="12700">
            <a:solidFill>
              <a:srgbClr val="1B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4846320" y="23042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Ordinal Features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846320" y="25786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customer_tier, priority_level → passed through (ranking preserved)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4709160" y="3127248"/>
            <a:ext cx="4114800" cy="731520"/>
          </a:xfrm>
          <a:prstGeom prst="rect">
            <a:avLst/>
          </a:prstGeom>
          <a:solidFill>
            <a:srgbClr val="F0F7FA"/>
          </a:solidFill>
          <a:ln w="12700">
            <a:solidFill>
              <a:srgbClr val="1B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4846320" y="31272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Categorical Features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4846320" y="34015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submission_hour, is_weekend, product_module → OneHotEncoder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320040" y="4251960"/>
            <a:ext cx="8503920" cy="64008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48640" y="42519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0B4D8"/>
                </a:solidFill>
              </a:rPr>
              <a:t>Feature Matrix: 100 SVD text components + 40 structured features = 140-column unified feature vector per ticket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Model Development Journey &amp; Ablation Study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960120"/>
          <a:ext cx="41148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709160" y="960120"/>
          <a:ext cx="41148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320040" y="4370832"/>
            <a:ext cx="8503920" cy="5943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437083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</a:rPr>
              <a:t>Key Insight: Text alone drives ~90% accuracy. Structured metadata adds robustness — especially for ambiguous tickets. Random Forest was champion in Joint Hyperparameter Tuning (F1: 0.8853).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Why Random Forest? — Model Selection Defense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5943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91440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Champion: Random Forest on Combined Features (max_features=2,500 | n_components=50 | ngram=(1,1) | min_df=2)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20040" y="1645920"/>
            <a:ext cx="2697480" cy="1371600"/>
          </a:xfrm>
          <a:prstGeom prst="rect">
            <a:avLst/>
          </a:prstGeom>
          <a:solidFill>
            <a:srgbClr val="F0F7FA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7373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171907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</a:rPr>
              <a:t>Joint Tuning Champion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411480" y="2121408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Exhaustive RandomizedSearchCV across all models and TF-IDF/SVD parameters confirmed Random Forest as the undisputed champion with Weighted F1 = 0.8853.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200400" y="1645920"/>
            <a:ext cx="2697480" cy="1371600"/>
          </a:xfrm>
          <a:prstGeom prst="rect">
            <a:avLst/>
          </a:prstGeom>
          <a:solidFill>
            <a:srgbClr val="F0F7FA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840" y="1737360"/>
            <a:ext cx="347472" cy="3474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703320" y="171907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</a:rPr>
              <a:t>Bagging vs. SVD Noise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3291840" y="2121408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Random Forest's bagging approach is highly effective at preventing overfitting to noise from dense SVD text embeddings — a known limitation of boosting methods on such data.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6080760" y="1645920"/>
            <a:ext cx="2697480" cy="1371600"/>
          </a:xfrm>
          <a:prstGeom prst="rect">
            <a:avLst/>
          </a:prstGeom>
          <a:solidFill>
            <a:srgbClr val="F0F7FA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1737360"/>
            <a:ext cx="347472" cy="34747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583680" y="171907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</a:rPr>
              <a:t>Native Class Imbalance Handling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6172200" y="2121408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class_weight='balanced' parameter natively corrects for TechNova's imbalanced department distribution (Technical/Billing dominant, Security minority).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320040" y="3154680"/>
            <a:ext cx="2697480" cy="1371600"/>
          </a:xfrm>
          <a:prstGeom prst="rect">
            <a:avLst/>
          </a:prstGeom>
          <a:solidFill>
            <a:srgbClr val="F0F7FA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3246120"/>
            <a:ext cx="347472" cy="34747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822960" y="32278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</a:rPr>
              <a:t>Interpretable Feature Importance</a:t>
            </a:r>
            <a:endParaRPr lang="en-US" sz="1150" dirty="0"/>
          </a:p>
        </p:txBody>
      </p:sp>
      <p:sp>
        <p:nvSpPr>
          <p:cNvPr id="22" name="Text 15"/>
          <p:cNvSpPr/>
          <p:nvPr/>
        </p:nvSpPr>
        <p:spPr>
          <a:xfrm>
            <a:off x="411480" y="3630168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Unlike black-box boosters, Random Forest provides clear feature importance, letting stakeholders see which keywords and metadata drive routing decisions.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3200400" y="3154680"/>
            <a:ext cx="2697480" cy="1371600"/>
          </a:xfrm>
          <a:prstGeom prst="rect">
            <a:avLst/>
          </a:prstGeom>
          <a:solidFill>
            <a:srgbClr val="F0F7FA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91840" y="3246120"/>
            <a:ext cx="347472" cy="34747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703320" y="32278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</a:rPr>
              <a:t>Business Metadata Synergy</a:t>
            </a:r>
            <a:endParaRPr lang="en-US" sz="1150" dirty="0"/>
          </a:p>
        </p:txBody>
      </p:sp>
      <p:sp>
        <p:nvSpPr>
          <p:cNvPr id="26" name="Text 18"/>
          <p:cNvSpPr/>
          <p:nvPr/>
        </p:nvSpPr>
        <p:spPr>
          <a:xfrm>
            <a:off x="3291840" y="3630168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Tree-based splits naturally capture interactions between customer_tier, product_module, and text semantics — the combined signal TechNova's data provides.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6080760" y="3154680"/>
            <a:ext cx="2697480" cy="1371600"/>
          </a:xfrm>
          <a:prstGeom prst="rect">
            <a:avLst/>
          </a:prstGeom>
          <a:solidFill>
            <a:srgbClr val="F0F7FA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246120"/>
            <a:ext cx="347472" cy="34747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583680" y="32278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</a:rPr>
              <a:t>Statistical Significance</a:t>
            </a:r>
            <a:endParaRPr lang="en-US" sz="1150" dirty="0"/>
          </a:p>
        </p:txBody>
      </p:sp>
      <p:sp>
        <p:nvSpPr>
          <p:cNvPr id="30" name="Text 21"/>
          <p:cNvSpPr/>
          <p:nvPr/>
        </p:nvSpPr>
        <p:spPr>
          <a:xfrm>
            <a:off x="6172200" y="3630168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25-fold Repeated Stratified K-Fold CV with 95% Confidence Intervals showed no statistically meaningful difference from LightGBM — making interpretability the deciding factor.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Threshold Calibration — Cost-Sensitive Routing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914400"/>
          <a:ext cx="53035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914400"/>
            <a:ext cx="3063240" cy="749808"/>
          </a:xfrm>
          <a:prstGeom prst="rect">
            <a:avLst/>
          </a:prstGeom>
          <a:solidFill>
            <a:srgbClr val="F0F7FA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042416"/>
            <a:ext cx="347472" cy="34747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63640" y="960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870448" y="126187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argmax rule treats all departments equally — missing Security tickets carries severe business risk.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5760720" y="1783080"/>
            <a:ext cx="3063240" cy="749808"/>
          </a:xfrm>
          <a:prstGeom prst="rect">
            <a:avLst/>
          </a:prstGeom>
          <a:solidFill>
            <a:srgbClr val="F0F7FA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0448" y="1911096"/>
            <a:ext cx="347472" cy="34747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63640" y="1828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5870448" y="21305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Lower Security threshold to 12.5%. If P(Security) ≥ 0.125, route to Security — regardless of other class scores.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5760720" y="2651760"/>
            <a:ext cx="3063240" cy="749808"/>
          </a:xfrm>
          <a:prstGeom prst="rect">
            <a:avLst/>
          </a:prstGeom>
          <a:solidFill>
            <a:srgbClr val="F0F7FA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0448" y="2779776"/>
            <a:ext cx="347472" cy="3474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263640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The Result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870448" y="299923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Security Recall &gt;90% achieved. False positives for Security are acceptable — failing to catch a breach is not.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5760720" y="3520440"/>
            <a:ext cx="3063240" cy="749808"/>
          </a:xfrm>
          <a:prstGeom prst="rect">
            <a:avLst/>
          </a:prstGeom>
          <a:solidFill>
            <a:srgbClr val="F0F7FA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0448" y="3648456"/>
            <a:ext cx="347472" cy="34747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263640" y="3566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Onboarding Protected</a:t>
            </a:r>
            <a:endParaRPr lang="en-US" sz="1100" dirty="0"/>
          </a:p>
        </p:txBody>
      </p:sp>
      <p:sp>
        <p:nvSpPr>
          <p:cNvPr id="20" name="Text 13"/>
          <p:cNvSpPr/>
          <p:nvPr/>
        </p:nvSpPr>
        <p:spPr>
          <a:xfrm>
            <a:off x="5870448" y="38679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Analysis confirmed Onboarding Precision stays &gt;90% — new customer experience is not sacrificed by this adjustment.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320040" y="4498848"/>
            <a:ext cx="8503920" cy="4572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5"/>
          <p:cNvSpPr/>
          <p:nvPr/>
        </p:nvSpPr>
        <p:spPr>
          <a:xfrm>
            <a:off x="457200" y="449884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</a:rPr>
              <a:t>Optimal Threshold: 0.125 — dynamically identified to satisfy the &gt;90% Security Recall business constraint.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How the Model Works — End-to-End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01168" y="914400"/>
            <a:ext cx="1234440" cy="1371600"/>
          </a:xfrm>
          <a:prstGeom prst="rect">
            <a:avLst/>
          </a:prstGeom>
          <a:solidFill>
            <a:srgbClr val="1B2F4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05840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1168" y="15087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Ticket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Arrives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435608" y="1600200"/>
            <a:ext cx="256032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691640" y="914400"/>
            <a:ext cx="1234440" cy="1371600"/>
          </a:xfrm>
          <a:prstGeom prst="rect">
            <a:avLst/>
          </a:prstGeom>
          <a:solidFill>
            <a:srgbClr val="0077A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4832" y="1005840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91640" y="15087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Text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Processing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56032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182112" y="914400"/>
            <a:ext cx="1234440" cy="1371600"/>
          </a:xfrm>
          <a:prstGeom prst="rect">
            <a:avLst/>
          </a:prstGeom>
          <a:solidFill>
            <a:srgbClr val="0077A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5304" y="1005840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82112" y="15087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Metadata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Encoding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416552" y="1600200"/>
            <a:ext cx="256032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4672584" y="914400"/>
            <a:ext cx="1234440" cy="1371600"/>
          </a:xfrm>
          <a:prstGeom prst="rect">
            <a:avLst/>
          </a:prstGeom>
          <a:solidFill>
            <a:srgbClr val="0D1B2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5776" y="1005840"/>
            <a:ext cx="438912" cy="43891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672584" y="15087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Random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Forest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907024" y="1600200"/>
            <a:ext cx="256032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163056" y="914400"/>
            <a:ext cx="1234440" cy="1371600"/>
          </a:xfrm>
          <a:prstGeom prst="rect">
            <a:avLst/>
          </a:prstGeom>
          <a:solidFill>
            <a:srgbClr val="F4A26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6248" y="1005840"/>
            <a:ext cx="438912" cy="43891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163056" y="15087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Threshold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Check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7397496" y="1600200"/>
            <a:ext cx="256032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7"/>
          <p:cNvSpPr/>
          <p:nvPr/>
        </p:nvSpPr>
        <p:spPr>
          <a:xfrm>
            <a:off x="7653528" y="914400"/>
            <a:ext cx="1234440" cy="1371600"/>
          </a:xfrm>
          <a:prstGeom prst="rect">
            <a:avLst/>
          </a:prstGeom>
          <a:solidFill>
            <a:srgbClr val="2EC4B6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20" y="1005840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653528" y="15087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Routed to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Dept.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320040" y="2468880"/>
            <a:ext cx="8503920" cy="38404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0"/>
          <p:cNvSpPr/>
          <p:nvPr/>
        </p:nvSpPr>
        <p:spPr>
          <a:xfrm>
            <a:off x="457200" y="246888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Latent Semantic Concepts Learned by the Model (TF-IDF → SVD Components)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320040" y="2944368"/>
            <a:ext cx="2697480" cy="777240"/>
          </a:xfrm>
          <a:prstGeom prst="rect">
            <a:avLst/>
          </a:prstGeom>
          <a:solidFill>
            <a:srgbClr val="F0F7FA"/>
          </a:solidFill>
          <a:ln w="12700">
            <a:solidFill>
              <a:srgbClr val="1B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2"/>
          <p:cNvSpPr/>
          <p:nvPr/>
        </p:nvSpPr>
        <p:spPr>
          <a:xfrm>
            <a:off x="393192" y="2990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77A8"/>
                </a:solidFill>
              </a:rPr>
              <a:t>Concept 1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393192" y="3200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General Support &amp; Urgency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393192" y="34472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→ check, team, service, urgent, help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3200400" y="2944368"/>
            <a:ext cx="2697480" cy="777240"/>
          </a:xfrm>
          <a:prstGeom prst="rect">
            <a:avLst/>
          </a:prstGeom>
          <a:solidFill>
            <a:srgbClr val="F0F7FA"/>
          </a:solidFill>
          <a:ln w="12700">
            <a:solidFill>
              <a:srgbClr val="1B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6"/>
          <p:cNvSpPr/>
          <p:nvPr/>
        </p:nvSpPr>
        <p:spPr>
          <a:xfrm>
            <a:off x="3273552" y="2990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77A8"/>
                </a:solidFill>
              </a:rPr>
              <a:t>Concept 2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3273552" y="3200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Incident &amp; Resolution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3273552" y="34472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→ problem, details, broken, resolved</a:t>
            </a:r>
            <a:endParaRPr lang="en-US" sz="1000" dirty="0"/>
          </a:p>
        </p:txBody>
      </p:sp>
      <p:sp>
        <p:nvSpPr>
          <p:cNvPr id="37" name="Shape 29"/>
          <p:cNvSpPr/>
          <p:nvPr/>
        </p:nvSpPr>
        <p:spPr>
          <a:xfrm>
            <a:off x="6080760" y="2944368"/>
            <a:ext cx="2697480" cy="777240"/>
          </a:xfrm>
          <a:prstGeom prst="rect">
            <a:avLst/>
          </a:prstGeom>
          <a:solidFill>
            <a:srgbClr val="F0F7FA"/>
          </a:solidFill>
          <a:ln w="12700">
            <a:solidFill>
              <a:srgbClr val="1B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0"/>
          <p:cNvSpPr/>
          <p:nvPr/>
        </p:nvSpPr>
        <p:spPr>
          <a:xfrm>
            <a:off x="6153912" y="2990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77A8"/>
                </a:solidFill>
              </a:rPr>
              <a:t>Concept 3</a:t>
            </a:r>
            <a:endParaRPr lang="en-US" sz="1000" dirty="0"/>
          </a:p>
        </p:txBody>
      </p:sp>
      <p:sp>
        <p:nvSpPr>
          <p:cNvPr id="39" name="Text 31"/>
          <p:cNvSpPr/>
          <p:nvPr/>
        </p:nvSpPr>
        <p:spPr>
          <a:xfrm>
            <a:off x="6153912" y="3200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Active Troubleshooting</a:t>
            </a:r>
            <a:endParaRPr lang="en-US" sz="1100" dirty="0"/>
          </a:p>
        </p:txBody>
      </p:sp>
      <p:sp>
        <p:nvSpPr>
          <p:cNvPr id="40" name="Text 32"/>
          <p:cNvSpPr/>
          <p:nvPr/>
        </p:nvSpPr>
        <p:spPr>
          <a:xfrm>
            <a:off x="6153912" y="34472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→ issue, working, change, urgent</a:t>
            </a:r>
            <a:endParaRPr lang="en-US" sz="1000" dirty="0"/>
          </a:p>
        </p:txBody>
      </p:sp>
      <p:sp>
        <p:nvSpPr>
          <p:cNvPr id="41" name="Shape 33"/>
          <p:cNvSpPr/>
          <p:nvPr/>
        </p:nvSpPr>
        <p:spPr>
          <a:xfrm>
            <a:off x="320040" y="3858768"/>
            <a:ext cx="2697480" cy="777240"/>
          </a:xfrm>
          <a:prstGeom prst="rect">
            <a:avLst/>
          </a:prstGeom>
          <a:solidFill>
            <a:srgbClr val="F0F7FA"/>
          </a:solidFill>
          <a:ln w="12700">
            <a:solidFill>
              <a:srgbClr val="1B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4"/>
          <p:cNvSpPr/>
          <p:nvPr/>
        </p:nvSpPr>
        <p:spPr>
          <a:xfrm>
            <a:off x="393192" y="39044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77A8"/>
                </a:solidFill>
              </a:rPr>
              <a:t>Concept 4</a:t>
            </a:r>
            <a:endParaRPr lang="en-US" sz="1000" dirty="0"/>
          </a:p>
        </p:txBody>
      </p:sp>
      <p:sp>
        <p:nvSpPr>
          <p:cNvPr id="43" name="Text 35"/>
          <p:cNvSpPr/>
          <p:nvPr/>
        </p:nvSpPr>
        <p:spPr>
          <a:xfrm>
            <a:off x="393192" y="41148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Time &amp; Status Tracking</a:t>
            </a:r>
            <a:endParaRPr lang="en-US" sz="1100" dirty="0"/>
          </a:p>
        </p:txBody>
      </p:sp>
      <p:sp>
        <p:nvSpPr>
          <p:cNvPr id="44" name="Text 36"/>
          <p:cNvSpPr/>
          <p:nvPr/>
        </p:nvSpPr>
        <p:spPr>
          <a:xfrm>
            <a:off x="393192" y="43616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→ time, yesterday, update, problem</a:t>
            </a:r>
            <a:endParaRPr lang="en-US" sz="1000" dirty="0"/>
          </a:p>
        </p:txBody>
      </p:sp>
      <p:sp>
        <p:nvSpPr>
          <p:cNvPr id="45" name="Shape 37"/>
          <p:cNvSpPr/>
          <p:nvPr/>
        </p:nvSpPr>
        <p:spPr>
          <a:xfrm>
            <a:off x="3200400" y="3858768"/>
            <a:ext cx="2697480" cy="777240"/>
          </a:xfrm>
          <a:prstGeom prst="rect">
            <a:avLst/>
          </a:prstGeom>
          <a:solidFill>
            <a:srgbClr val="F0F7FA"/>
          </a:solidFill>
          <a:ln w="12700">
            <a:solidFill>
              <a:srgbClr val="1B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8"/>
          <p:cNvSpPr/>
          <p:nvPr/>
        </p:nvSpPr>
        <p:spPr>
          <a:xfrm>
            <a:off x="3273552" y="39044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77A8"/>
                </a:solidFill>
              </a:rPr>
              <a:t>Concept 5</a:t>
            </a:r>
            <a:endParaRPr lang="en-US" sz="1000" dirty="0"/>
          </a:p>
        </p:txBody>
      </p:sp>
      <p:sp>
        <p:nvSpPr>
          <p:cNvPr id="47" name="Text 39"/>
          <p:cNvSpPr/>
          <p:nvPr/>
        </p:nvSpPr>
        <p:spPr>
          <a:xfrm>
            <a:off x="3273552" y="41148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Account &amp; System Performance</a:t>
            </a:r>
            <a:endParaRPr lang="en-US" sz="1100" dirty="0"/>
          </a:p>
        </p:txBody>
      </p:sp>
      <p:sp>
        <p:nvSpPr>
          <p:cNvPr id="48" name="Text 40"/>
          <p:cNvSpPr/>
          <p:nvPr/>
        </p:nvSpPr>
        <p:spPr>
          <a:xfrm>
            <a:off x="3273552" y="43616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→ loading, account, change, system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Critical Reflections — Key Learning &amp; Design Decisions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60520" cy="1280160"/>
          </a:xfrm>
          <a:prstGeom prst="rect">
            <a:avLst/>
          </a:prstGeom>
          <a:solidFill>
            <a:srgbClr val="F0F7F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502920" cy="12801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" y="1005840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987552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Why Unigrams, Not Bigrams?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1371600"/>
            <a:ext cx="3456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Single keywords like 'timeout', 'phishing', 'overcharge' are the primary routing signals. Bigrams added sparsity without meaningful lift. Bigram-only models would miss standalone high-value terms entirely.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09160" y="914400"/>
            <a:ext cx="4160520" cy="1280160"/>
          </a:xfrm>
          <a:prstGeom prst="rect">
            <a:avLst/>
          </a:prstGeom>
          <a:solidFill>
            <a:srgbClr val="F0F7F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709160" y="914400"/>
            <a:ext cx="502920" cy="12801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312" y="1005840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03520" y="987552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Would Word Embeddings Help?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303520" y="1371600"/>
            <a:ext cx="3456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Minimal marginal gain given short, keyword-rich tickets already at 88-90% accuracy. The switch would require significantly more compute, memory, and inference time — reducing interpretability with little upside.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20040" y="2331720"/>
            <a:ext cx="4160520" cy="1280160"/>
          </a:xfrm>
          <a:prstGeom prst="rect">
            <a:avLst/>
          </a:prstGeom>
          <a:solidFill>
            <a:srgbClr val="F0F7F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320040" y="2331720"/>
            <a:ext cx="502920" cy="12801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" y="24231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4400" y="2404872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Bag-of-Words Cost?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914400" y="2788920"/>
            <a:ext cx="3456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Word order is lost ('update broke system' = 'system broke update'), but for routing purposes the presence of 'broke' and 'update' alone suffices. The cost did not materially impact performance.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709160" y="2331720"/>
            <a:ext cx="4160520" cy="1280160"/>
          </a:xfrm>
          <a:prstGeom prst="rect">
            <a:avLst/>
          </a:prstGeom>
          <a:solidFill>
            <a:srgbClr val="F0F7F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4709160" y="2331720"/>
            <a:ext cx="502920" cy="12801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2312" y="242316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03520" y="2404872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What If Text Were Unavailable?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303520" y="2788920"/>
            <a:ext cx="3456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Performance would collapse from ~88% to ~20% F1. The model would perform worse than a majority-class baseline — not worth deploying. Text is the irreplaceable core signal.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0040" y="3749040"/>
            <a:ext cx="4160520" cy="1280160"/>
          </a:xfrm>
          <a:prstGeom prst="rect">
            <a:avLst/>
          </a:prstGeom>
          <a:solidFill>
            <a:srgbClr val="F0F7F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320040" y="3749040"/>
            <a:ext cx="502920" cy="12801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192" y="3840480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14400" y="3822192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What If 10× More Data?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914400" y="4206240"/>
            <a:ext cx="3456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TF-IDF and SVD would benefit most — richer vocabulary, more nuanced latent components. Random Forest would map deeper interactions without memorizing noise. Structured preprocessing shows diminishing returns.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4709160" y="3749040"/>
            <a:ext cx="4160520" cy="1280160"/>
          </a:xfrm>
          <a:prstGeom prst="rect">
            <a:avLst/>
          </a:prstGeom>
          <a:solidFill>
            <a:srgbClr val="F0F7F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4709160" y="3749040"/>
            <a:ext cx="502920" cy="12801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2312" y="3840480"/>
            <a:ext cx="347472" cy="34747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303520" y="3822192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Distribution Shift Risk?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5303520" y="4206240"/>
            <a:ext cx="3456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If Security tickets surged from minority to majority class, the 12.5% threshold would flood the Security team with false positives. Model would need retraining and full recalibration — a key monitoring trigger.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Performance Metrics &amp; Business Impact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1965960" cy="1234440"/>
          </a:xfrm>
          <a:prstGeom prst="rect">
            <a:avLst/>
          </a:prstGeom>
          <a:solidFill>
            <a:srgbClr val="00B4D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0058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88.5%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20040" y="1645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Weighted F1-Score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19202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F0F8"/>
                </a:solidFill>
              </a:rPr>
              <a:t>25-fold repeated CV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68880" y="914400"/>
            <a:ext cx="1965960" cy="1234440"/>
          </a:xfrm>
          <a:prstGeom prst="rect">
            <a:avLst/>
          </a:prstGeom>
          <a:solidFill>
            <a:srgbClr val="E63946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68880" y="10058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&gt;90%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468880" y="1645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Security Recall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468880" y="19202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F0F8"/>
                </a:solidFill>
              </a:rPr>
              <a:t>At threshold 0.125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17720" y="914400"/>
            <a:ext cx="1965960" cy="1234440"/>
          </a:xfrm>
          <a:prstGeom prst="rect">
            <a:avLst/>
          </a:prstGeom>
          <a:solidFill>
            <a:srgbClr val="2EC4B6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17720" y="10058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&gt;90%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17720" y="1645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Onboarding Precision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17720" y="19202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F0F8"/>
                </a:solidFill>
              </a:rPr>
              <a:t>New customer accuracy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66560" y="914400"/>
            <a:ext cx="1965960" cy="1234440"/>
          </a:xfrm>
          <a:prstGeom prst="rect">
            <a:avLst/>
          </a:prstGeom>
          <a:solidFill>
            <a:srgbClr val="0D1B2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66560" y="10058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~85%+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766560" y="1645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Overall Routing Accuracy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766560" y="19202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F0F8"/>
                </a:solidFill>
              </a:rPr>
              <a:t>vs inconsistent manual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2286000"/>
            <a:ext cx="8503920" cy="384048"/>
          </a:xfrm>
          <a:prstGeom prst="rect">
            <a:avLst/>
          </a:prstGeom>
          <a:solidFill>
            <a:srgbClr val="1B2F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22860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0B4D8"/>
                </a:solidFill>
              </a:rPr>
              <a:t>ESTIMATED BUSINESS IMPACT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697480"/>
          <a:ext cx="8503920" cy="2084832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Current State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With Model (Estimated)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Business Impact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Resolution Time (misrouted)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14.8 hours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4–6 hours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↓ 60–70% faster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Customer Satisfaction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Baseline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+22 points (est.)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↑ Improved experience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Annual Labor Cost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High (manual routing)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Reduced significantly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≈ $1.2M savings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Routing Accuracy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Manual, inconsistent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~85%+ automated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↓ Fewer reroutes &amp; escalations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Security Incident Miss Rate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Unknown / High Risk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&lt; 10% miss rate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↓ Critical risk mitigated</a:t>
                      </a:r>
                      <a:endParaRPr lang="en-US" sz="1150" dirty="0"/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Error Analysis &amp; Known Failure Modes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914400"/>
          <a:ext cx="41148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572000" y="914400"/>
            <a:ext cx="4251960" cy="914400"/>
          </a:xfrm>
          <a:prstGeom prst="rect">
            <a:avLst/>
          </a:prstGeom>
          <a:solidFill>
            <a:srgbClr val="F0F7FA"/>
          </a:solidFill>
          <a:ln w="254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1005840"/>
            <a:ext cx="347472" cy="34747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02352" y="969264"/>
            <a:ext cx="3630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Feature Request — Hardest Class (22.4% errors)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681728" y="1298448"/>
            <a:ext cx="4050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Shares heavy semantic overlap with Technical and Security. Words like 'change', 'update', 'fix' appear across multiple departments, making disambiguation difficult.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572000" y="1938528"/>
            <a:ext cx="4251960" cy="914400"/>
          </a:xfrm>
          <a:prstGeom prst="rect">
            <a:avLst/>
          </a:prstGeom>
          <a:solidFill>
            <a:srgbClr val="F0F7FA"/>
          </a:solidFill>
          <a:ln w="254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2029968"/>
            <a:ext cx="347472" cy="34747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102352" y="1993392"/>
            <a:ext cx="3630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Security False Positives — Intended Behavior</a:t>
            </a: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4681728" y="2322576"/>
            <a:ext cx="4050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The aggressive 12.5% threshold intentionally flags borderline tickets as Security. This is by design — preventing missed incidents outweighs the cost of extra reviews.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4572000" y="2962656"/>
            <a:ext cx="4251960" cy="914400"/>
          </a:xfrm>
          <a:prstGeom prst="rect">
            <a:avLst/>
          </a:prstGeom>
          <a:solidFill>
            <a:srgbClr val="F0F7FA"/>
          </a:solidFill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1728" y="3054096"/>
            <a:ext cx="347472" cy="3474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102352" y="3017520"/>
            <a:ext cx="3630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Technical ↔ Account — Tolerable Soft Failures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4681728" y="3346704"/>
            <a:ext cx="4050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Occasional misclassifications between these departments are low-cost errors — tickets can be quickly transferred internally with minimal customer impact.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4572000" y="3986784"/>
            <a:ext cx="4251960" cy="914400"/>
          </a:xfrm>
          <a:prstGeom prst="rect">
            <a:avLst/>
          </a:prstGeom>
          <a:solidFill>
            <a:srgbClr val="F0F7FA"/>
          </a:solidFill>
          <a:ln w="254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1728" y="4078224"/>
            <a:ext cx="347472" cy="34747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102352" y="4041648"/>
            <a:ext cx="3630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Onboarding — Protected Category</a:t>
            </a:r>
            <a:endParaRPr lang="en-US" sz="1100" dirty="0"/>
          </a:p>
        </p:txBody>
      </p:sp>
      <p:sp>
        <p:nvSpPr>
          <p:cNvPr id="20" name="Text 13"/>
          <p:cNvSpPr/>
          <p:nvPr/>
        </p:nvSpPr>
        <p:spPr>
          <a:xfrm>
            <a:off x="4681728" y="4370832"/>
            <a:ext cx="4050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Onboarding Precision stays &gt;90% consistently. New customers are rarely misrouted into the Onboarding queue — protecting the critical first-impression experience.</a:t>
            </a:r>
            <a:endParaRPr lang="en-US" sz="1000" dirty="0"/>
          </a:p>
        </p:txBody>
      </p:sp>
      <p:sp>
        <p:nvSpPr>
          <p:cNvPr id="21" name="Text 14"/>
          <p:cNvSpPr/>
          <p:nvPr/>
        </p:nvSpPr>
        <p:spPr>
          <a:xfrm>
            <a:off x="320040" y="4114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* Security error rate reduced post-threshold calibration from default argmax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Next Steps &amp; Recommendations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64008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9144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RECOMMENDATION: Proceed with a 90-Day Pilot Deployment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20040" y="1664208"/>
            <a:ext cx="2697480" cy="3246120"/>
          </a:xfrm>
          <a:prstGeom prst="rect">
            <a:avLst/>
          </a:prstGeom>
          <a:solidFill>
            <a:srgbClr val="F0F7F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320040" y="1664208"/>
            <a:ext cx="2697480" cy="6858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20040" y="166420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Phase 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(Days 1–30)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325880" y="166420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Pilot Deployment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1480" y="242316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→ </a:t>
            </a:r>
            <a:r>
              <a:rPr lang="en-US" sz="1100" dirty="0">
                <a:solidFill>
                  <a:srgbClr val="0D1B2A"/>
                </a:solidFill>
              </a:rPr>
              <a:t>Deploy model in shadow mode alongside manual routing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11480" y="304495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→ </a:t>
            </a:r>
            <a:r>
              <a:rPr lang="en-US" sz="1100" dirty="0">
                <a:solidFill>
                  <a:srgbClr val="0D1B2A"/>
                </a:solidFill>
              </a:rPr>
              <a:t>Track routing accuracy vs manual baseline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11480" y="36667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→ </a:t>
            </a:r>
            <a:r>
              <a:rPr lang="en-US" sz="1100" dirty="0">
                <a:solidFill>
                  <a:srgbClr val="0D1B2A"/>
                </a:solidFill>
              </a:rPr>
              <a:t>Focus monitoring on Security &amp; Onboarding queues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11480" y="428853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→ </a:t>
            </a:r>
            <a:r>
              <a:rPr lang="en-US" sz="1100" dirty="0">
                <a:solidFill>
                  <a:srgbClr val="0D1B2A"/>
                </a:solidFill>
              </a:rPr>
              <a:t>Gather department lead feedback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00400" y="1664208"/>
            <a:ext cx="2697480" cy="3246120"/>
          </a:xfrm>
          <a:prstGeom prst="rect">
            <a:avLst/>
          </a:prstGeom>
          <a:solidFill>
            <a:srgbClr val="F0F7F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200400" y="1664208"/>
            <a:ext cx="2697480" cy="6858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3200400" y="166420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Phase 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(Days 31–60)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206240" y="166420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Validation &amp; Tuning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291840" y="242316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→ </a:t>
            </a:r>
            <a:r>
              <a:rPr lang="en-US" sz="1100" dirty="0">
                <a:solidFill>
                  <a:srgbClr val="0D1B2A"/>
                </a:solidFill>
              </a:rPr>
              <a:t>Compare resolution times: automated vs manual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291840" y="304495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→ </a:t>
            </a:r>
            <a:r>
              <a:rPr lang="en-US" sz="1100" dirty="0">
                <a:solidFill>
                  <a:srgbClr val="0D1B2A"/>
                </a:solidFill>
              </a:rPr>
              <a:t>Recalibrate Security threshold if distribution shifts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291840" y="36667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→ </a:t>
            </a:r>
            <a:r>
              <a:rPr lang="en-US" sz="1100" dirty="0">
                <a:solidFill>
                  <a:srgbClr val="0D1B2A"/>
                </a:solidFill>
              </a:rPr>
              <a:t>A/B test full automation on low-risk ticket types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291840" y="428853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→ </a:t>
            </a:r>
            <a:r>
              <a:rPr lang="en-US" sz="1100" dirty="0">
                <a:solidFill>
                  <a:srgbClr val="0D1B2A"/>
                </a:solidFill>
              </a:rPr>
              <a:t>Measure customer satisfaction delta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80760" y="1664208"/>
            <a:ext cx="2697480" cy="3246120"/>
          </a:xfrm>
          <a:prstGeom prst="rect">
            <a:avLst/>
          </a:prstGeom>
          <a:solidFill>
            <a:srgbClr val="F0F7F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080760" y="1664208"/>
            <a:ext cx="2697480" cy="6858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080760" y="166420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Phase 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(Days 61–90)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086600" y="166420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Full Rollout Decision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172200" y="242316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→ </a:t>
            </a:r>
            <a:r>
              <a:rPr lang="en-US" sz="1100" dirty="0">
                <a:solidFill>
                  <a:srgbClr val="0D1B2A"/>
                </a:solidFill>
              </a:rPr>
              <a:t>If KPIs met: proceed to full-scale deployment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172200" y="304495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→ </a:t>
            </a:r>
            <a:r>
              <a:rPr lang="en-US" sz="1100" dirty="0">
                <a:solidFill>
                  <a:srgbClr val="0D1B2A"/>
                </a:solidFill>
              </a:rPr>
              <a:t>Establish quarterly model retraining cadence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172200" y="36667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→ </a:t>
            </a:r>
            <a:r>
              <a:rPr lang="en-US" sz="1100" dirty="0">
                <a:solidFill>
                  <a:srgbClr val="0D1B2A"/>
                </a:solidFill>
              </a:rPr>
              <a:t>Set monitoring alerts for distributional drift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172200" y="428853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→ </a:t>
            </a:r>
            <a:r>
              <a:rPr lang="en-US" sz="1100" dirty="0">
                <a:solidFill>
                  <a:srgbClr val="0D1B2A"/>
                </a:solidFill>
              </a:rPr>
              <a:t>Consider embedding models for ambiguous short tickets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2286000"/>
            <a:ext cx="3657600" cy="3657600"/>
          </a:xfrm>
          <a:prstGeom prst="ellipse">
            <a:avLst/>
          </a:prstGeom>
          <a:solidFill>
            <a:srgbClr val="1B2F45"/>
          </a:solidFill>
          <a:ln w="12700">
            <a:solidFill>
              <a:srgbClr val="1B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132320" y="2926080"/>
            <a:ext cx="2286000" cy="2286000"/>
          </a:xfrm>
          <a:prstGeom prst="ellipse">
            <a:avLst/>
          </a:prstGeom>
          <a:solidFill>
            <a:srgbClr val="0077A8">
              <a:alpha val="25000"/>
            </a:srgbClr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00B4D8"/>
                </a:solidFill>
              </a:rPr>
              <a:t>IN SUMMARY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The Right Ticket,</a:t>
            </a:r>
            <a:endParaRPr lang="en-US" sz="3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The Right Department,</a:t>
            </a:r>
            <a:endParaRPr lang="en-US" sz="3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Every Time.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65760" y="2788920"/>
            <a:ext cx="502920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29260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✓ </a:t>
            </a:r>
            <a:r>
              <a:rPr lang="en-US" sz="1300" dirty="0">
                <a:solidFill>
                  <a:srgbClr val="FFFFFF"/>
                </a:solidFill>
              </a:rPr>
              <a:t>Random Forest on combined text + metadata — Weighted F1: 88.5%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33832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✓ </a:t>
            </a:r>
            <a:r>
              <a:rPr lang="en-US" sz="1300" dirty="0">
                <a:solidFill>
                  <a:srgbClr val="FFFFFF"/>
                </a:solidFill>
              </a:rPr>
              <a:t>Security Recall &gt;90% via cost-sensitive 12.5% threshold calibration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38404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✓ </a:t>
            </a:r>
            <a:r>
              <a:rPr lang="en-US" sz="1300" dirty="0">
                <a:solidFill>
                  <a:srgbClr val="FFFFFF"/>
                </a:solidFill>
              </a:rPr>
              <a:t>Estimated $1.2M annual savings + 60–70% resolution time reduction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42976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✓ </a:t>
            </a:r>
            <a:r>
              <a:rPr lang="en-US" sz="1300" dirty="0">
                <a:solidFill>
                  <a:srgbClr val="FFFFFF"/>
                </a:solidFill>
              </a:rPr>
              <a:t>90-day pilot recommended before full-scale deployment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4663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0E0EF"/>
                </a:solidFill>
              </a:rPr>
              <a:t>Thank You — Questions Welcome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1614</Words>
  <Application>Microsoft Macintosh PowerPoint</Application>
  <PresentationFormat>On-screen Show (16:9)</PresentationFormat>
  <Paragraphs>234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TechNova Automated Ticket Routing — AI Solution Presentation</dc:title>
  <dc:subject>PptxGenJS Presentation</dc:subject>
  <dc:creator>PptxGenJS</dc:creator>
  <cp:lastModifiedBy>Mrunali Dhakate</cp:lastModifiedBy>
  <cp:revision>4</cp:revision>
  <dcterms:created xsi:type="dcterms:W3CDTF">2026-05-06T18:15:49Z</dcterms:created>
  <dcterms:modified xsi:type="dcterms:W3CDTF">2026-05-07T13:04:35Z</dcterms:modified>
</cp:coreProperties>
</file>