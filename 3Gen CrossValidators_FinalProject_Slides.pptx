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658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Ablation Study: Logistic Regression Baseline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F1 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9D-0046-A552-F931286F0E31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9D-0046-A552-F931286F0E31}"/>
              </c:ext>
            </c:extLst>
          </c:dPt>
          <c:dPt>
            <c:idx val="2"/>
            <c:invertIfNegative val="0"/>
            <c:bubble3D val="0"/>
            <c:spPr>
              <a:solidFill>
                <a:srgbClr val="1B2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9D-0046-A552-F931286F0E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Structured Only</c:v>
                </c:pt>
                <c:pt idx="1">
                  <c:v>Text Only</c:v>
                </c:pt>
                <c:pt idx="2">
                  <c:v>Combined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0.9</c:v>
                </c:pt>
                <c:pt idx="2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9D-0046-A552-F931286F0E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Model Comparison — Combined Feature Set (25-Fold CV)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Weighted F1 (Combined Features)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82-F44C-B832-A1DF428CA787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82-F44C-B832-A1DF428CA787}"/>
              </c:ext>
            </c:extLst>
          </c:dPt>
          <c:dPt>
            <c:idx val="2"/>
            <c:invertIfNegative val="0"/>
            <c:bubble3D val="0"/>
            <c:spPr>
              <a:solidFill>
                <a:srgbClr val="1B2F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82-F44C-B832-A1DF428CA787}"/>
              </c:ext>
            </c:extLst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82-F44C-B832-A1DF428CA7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Random Forest</c:v>
                </c:pt>
                <c:pt idx="2">
                  <c:v>LightGBM</c:v>
                </c:pt>
                <c:pt idx="3">
                  <c:v>Stacking Classifier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0.88529999999999998</c:v>
                </c:pt>
                <c:pt idx="2">
                  <c:v>0.88200000000000001</c:v>
                </c:pt>
                <c:pt idx="3">
                  <c:v>0.88100000000000001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82-F44C-B832-A1DF428CA7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Sensitivity Analysis: Security Threshold Trade-offs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Recall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0.05</c:v>
                </c:pt>
                <c:pt idx="1">
                  <c:v>0.075</c:v>
                </c:pt>
                <c:pt idx="2">
                  <c:v>0.10</c:v>
                </c:pt>
                <c:pt idx="3">
                  <c:v>0.125</c:v>
                </c:pt>
                <c:pt idx="4">
                  <c:v>0.15</c:v>
                </c:pt>
                <c:pt idx="5">
                  <c:v>0.175</c:v>
                </c:pt>
                <c:pt idx="6">
                  <c:v>0.20</c:v>
                </c:pt>
                <c:pt idx="7">
                  <c:v>0.25</c:v>
                </c:pt>
                <c:pt idx="8">
                  <c:v>0.30</c:v>
                </c:pt>
                <c:pt idx="9">
                  <c:v>0.35</c:v>
                </c:pt>
                <c:pt idx="10">
                  <c:v>0.40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0.99</c:v>
                </c:pt>
                <c:pt idx="2">
                  <c:v>0.97</c:v>
                </c:pt>
                <c:pt idx="3">
                  <c:v>0.92</c:v>
                </c:pt>
                <c:pt idx="4">
                  <c:v>0.88</c:v>
                </c:pt>
                <c:pt idx="5">
                  <c:v>0.82</c:v>
                </c:pt>
                <c:pt idx="6">
                  <c:v>0.75</c:v>
                </c:pt>
                <c:pt idx="7">
                  <c:v>0.61</c:v>
                </c:pt>
                <c:pt idx="8">
                  <c:v>0.5</c:v>
                </c:pt>
                <c:pt idx="9">
                  <c:v>0.38</c:v>
                </c:pt>
                <c:pt idx="10">
                  <c:v>0.27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7C7-C74B-AD82-45DC287648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Precision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0.05</c:v>
                </c:pt>
                <c:pt idx="1">
                  <c:v>0.075</c:v>
                </c:pt>
                <c:pt idx="2">
                  <c:v>0.10</c:v>
                </c:pt>
                <c:pt idx="3">
                  <c:v>0.125</c:v>
                </c:pt>
                <c:pt idx="4">
                  <c:v>0.15</c:v>
                </c:pt>
                <c:pt idx="5">
                  <c:v>0.175</c:v>
                </c:pt>
                <c:pt idx="6">
                  <c:v>0.20</c:v>
                </c:pt>
                <c:pt idx="7">
                  <c:v>0.25</c:v>
                </c:pt>
                <c:pt idx="8">
                  <c:v>0.30</c:v>
                </c:pt>
                <c:pt idx="9">
                  <c:v>0.35</c:v>
                </c:pt>
                <c:pt idx="10">
                  <c:v>0.40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0.42</c:v>
                </c:pt>
                <c:pt idx="1">
                  <c:v>0.51</c:v>
                </c:pt>
                <c:pt idx="2">
                  <c:v>0.61</c:v>
                </c:pt>
                <c:pt idx="3">
                  <c:v>0.72</c:v>
                </c:pt>
                <c:pt idx="4">
                  <c:v>0.8</c:v>
                </c:pt>
                <c:pt idx="5">
                  <c:v>0.85</c:v>
                </c:pt>
                <c:pt idx="6">
                  <c:v>0.88</c:v>
                </c:pt>
                <c:pt idx="7">
                  <c:v>0.9</c:v>
                </c:pt>
                <c:pt idx="8">
                  <c:v>0.92</c:v>
                </c:pt>
                <c:pt idx="9">
                  <c:v>0.93</c:v>
                </c:pt>
                <c:pt idx="10">
                  <c:v>0.93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7C7-C74B-AD82-45DC287648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Onboarding Precision</c:v>
                </c:pt>
              </c:strCache>
            </c:strRef>
          </c:tx>
          <c:spPr>
            <a:ln w="31750" cap="flat">
              <a:solidFill>
                <a:srgbClr val="2EC4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0.05</c:v>
                </c:pt>
                <c:pt idx="1">
                  <c:v>0.075</c:v>
                </c:pt>
                <c:pt idx="2">
                  <c:v>0.10</c:v>
                </c:pt>
                <c:pt idx="3">
                  <c:v>0.125</c:v>
                </c:pt>
                <c:pt idx="4">
                  <c:v>0.15</c:v>
                </c:pt>
                <c:pt idx="5">
                  <c:v>0.175</c:v>
                </c:pt>
                <c:pt idx="6">
                  <c:v>0.20</c:v>
                </c:pt>
                <c:pt idx="7">
                  <c:v>0.25</c:v>
                </c:pt>
                <c:pt idx="8">
                  <c:v>0.30</c:v>
                </c:pt>
                <c:pt idx="9">
                  <c:v>0.35</c:v>
                </c:pt>
                <c:pt idx="10">
                  <c:v>0.40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0.88</c:v>
                </c:pt>
                <c:pt idx="1">
                  <c:v>0.89</c:v>
                </c:pt>
                <c:pt idx="2">
                  <c:v>0.9</c:v>
                </c:pt>
                <c:pt idx="3">
                  <c:v>0.91</c:v>
                </c:pt>
                <c:pt idx="4">
                  <c:v>0.91</c:v>
                </c:pt>
                <c:pt idx="5">
                  <c:v>0.92</c:v>
                </c:pt>
                <c:pt idx="6">
                  <c:v>0.93</c:v>
                </c:pt>
                <c:pt idx="7">
                  <c:v>0.93</c:v>
                </c:pt>
                <c:pt idx="8">
                  <c:v>0.93</c:v>
                </c:pt>
                <c:pt idx="9">
                  <c:v>0.93</c:v>
                </c:pt>
                <c:pt idx="10">
                  <c:v>0.93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7C7-C74B-AD82-45DC28764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Error Rates by Department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by Department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C1-6E45-B64A-A4915E5788FC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C1-6E45-B64A-A4915E5788FC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C1-6E45-B64A-A4915E5788FC}"/>
              </c:ext>
            </c:extLst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C1-6E45-B64A-A4915E5788FC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C1-6E45-B64A-A4915E5788FC}"/>
              </c:ext>
            </c:extLst>
          </c:dPt>
          <c:dPt>
            <c:idx val="5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C1-6E45-B64A-A4915E5788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Feature Request</c:v>
                </c:pt>
                <c:pt idx="1">
                  <c:v>Security*</c:v>
                </c:pt>
                <c:pt idx="2">
                  <c:v>Billing</c:v>
                </c:pt>
                <c:pt idx="3">
                  <c:v>Technical</c:v>
                </c:pt>
                <c:pt idx="4">
                  <c:v>Account</c:v>
                </c:pt>
                <c:pt idx="5">
                  <c:v>Onboarding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22.39</c:v>
                </c:pt>
                <c:pt idx="1">
                  <c:v>8.5</c:v>
                </c:pt>
                <c:pt idx="2">
                  <c:v>9.1999999999999993</c:v>
                </c:pt>
                <c:pt idx="3">
                  <c:v>7.8</c:v>
                </c:pt>
                <c:pt idx="4">
                  <c:v>6.5</c:v>
                </c:pt>
                <c:pt idx="5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2C1-6E45-B64A-A4915E5788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98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77A8">
              <a:alpha val="30000"/>
            </a:srgbClr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48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B4D8"/>
                </a:solidFill>
              </a:rPr>
              <a:t>TECHNOVA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Automated Support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</a:rPr>
              <a:t>Ticket  Routing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E0EF"/>
                </a:solidFill>
              </a:rPr>
              <a:t>AI-Powered Multi-Class Classification Solution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3429000"/>
            <a:ext cx="7315200" cy="54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90E0EF"/>
                </a:solidFill>
              </a:rPr>
              <a:t>Team Name: </a:t>
            </a:r>
            <a:r>
              <a:rPr lang="en-US" sz="1400" dirty="0">
                <a:solidFill>
                  <a:schemeClr val="bg1"/>
                </a:solidFill>
              </a:rPr>
              <a:t>3Gen Cross Validators</a:t>
            </a:r>
          </a:p>
          <a:p>
            <a:r>
              <a:rPr lang="en-US" sz="1300" b="1" dirty="0">
                <a:solidFill>
                  <a:srgbClr val="90E0EF"/>
                </a:solidFill>
              </a:rPr>
              <a:t>Team: </a:t>
            </a:r>
            <a:r>
              <a:rPr lang="en-US" sz="1300" dirty="0" err="1">
                <a:solidFill>
                  <a:srgbClr val="FFFFFF"/>
                </a:solidFill>
              </a:rPr>
              <a:t>Alifya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Saify</a:t>
            </a:r>
            <a:r>
              <a:rPr lang="en-US" sz="1300" dirty="0">
                <a:solidFill>
                  <a:srgbClr val="FFFFFF"/>
                </a:solidFill>
              </a:rPr>
              <a:t> · Mrunali Dhakate · Roopa Shankar Rao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12183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ISM6251 Graduate Final Project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Problem Statement &amp; Business Context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Data &amp; Text Strategy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Model Development &amp; Ablation Study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703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Model Selection — Why Random Forest?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960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Threshold Calibration &amp; Risk Management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8745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49240" y="19202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Performance Metrics &amp; Business Impact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27889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7889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7889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492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Critical Reflections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3703320"/>
            <a:ext cx="502920" cy="7132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7033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49240" y="37490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Next Steps &amp; Recommendations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005840"/>
          </a:xfrm>
          <a:prstGeom prst="rect">
            <a:avLst/>
          </a:prstGeom>
          <a:solidFill>
            <a:srgbClr val="FFF3E0"/>
          </a:solidFill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2412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TechNova's customer support team manually routes ~1,200 daily tickets across 6 departments, causing frequent misrouting that increases resolution time from 4.2 hours to 14.8 hours and negatively impacts customer satisfaction.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2057400"/>
            <a:ext cx="196596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1,200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20040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Tickets/Day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2057400"/>
            <a:ext cx="196596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6888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468880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Departments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2057400"/>
            <a:ext cx="196596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1772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4.2 hrs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17720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Ideal Resolution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2057400"/>
            <a:ext cx="1965960" cy="10058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14.8 hrs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766560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Misrouted Resolution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200400"/>
            <a:ext cx="8503920" cy="8686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9184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3000" y="32186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Objective: Automate ticket routing using ticket text + customer metadata to predict the correct department at first contact — eliminating the manual bottleneck.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2004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Stakeholders: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0040" y="4462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VP Customer Success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108960" y="4462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Department Leads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897880" y="4462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Security Team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2004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Onboarding Team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108960" y="4736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• Product Managers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These Metrics? Business-Aligned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97480" cy="39776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9748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926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PRIMARY METRIC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</a:rPr>
              <a:t>Weighted F1-Score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1480" y="2011680"/>
            <a:ext cx="2514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Balances precision and recall across all 6 departments while accounting for class imbalance. Prevents majority classes (Technical, Billing) from dominating the score.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697480" cy="39776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9748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6926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CRITICAL CONSTRAINT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9184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</a:rPr>
              <a:t>Security Recall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291840" y="2011680"/>
            <a:ext cx="2514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We cannot afford to miss security incidents. A low threshold (12.5%) ensures near-perfect recall for Security tickets even at the cost of some false positives.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0760" y="914400"/>
            <a:ext cx="2697480" cy="39776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80760" y="914400"/>
            <a:ext cx="2697480" cy="502920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6926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9144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EXPERIENCE GUARD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17220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</a:rPr>
              <a:t>Onboarding Precision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172200" y="2011680"/>
            <a:ext cx="2514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New customers must be routed correctly on first contact. High precision for Onboarding tickets protects first impressions and reduces churn risk.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20040" y="4983480"/>
            <a:ext cx="8503920" cy="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combination of Weighted F1, Security Recall, and Onboarding Precision ensures evaluation aligns with both overall accuracy and specific high-stakes business priorities.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Strategy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6908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875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914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 PIPELINE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481328"/>
            <a:ext cx="406908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</a:rPr>
              <a:t>TF-IDF Vectorizer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755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max_features=2,500 | ngram=(1,1) | min_df=2 | max_df=0.8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2304288"/>
            <a:ext cx="406908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304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</a:rPr>
              <a:t>Stop Words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578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English stop words removed natively by TfidfVectorizer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3127248"/>
            <a:ext cx="406908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</a:rPr>
              <a:t>TruncatedSVD (LSA)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n_components=50 — compresses sparse matrix into 50 semantic dimensions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914400"/>
            <a:ext cx="4114800" cy="457200"/>
          </a:xfrm>
          <a:prstGeom prst="rect">
            <a:avLst/>
          </a:prstGeom>
          <a:solidFill>
            <a:srgbClr val="1B2F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98755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914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STRUCTURED PIPELINE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709160" y="1481328"/>
            <a:ext cx="411480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4632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Numerical Features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1755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account_age_months, monthly_spend, num_open_tickets → StandardScaler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09160" y="2304288"/>
            <a:ext cx="411480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2304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Ordinal Features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25786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customer_tier, priority_level → passed through (ranking preserved)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09160" y="3127248"/>
            <a:ext cx="4114800" cy="73152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84632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Categorical Features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4632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submission_hour, is_weekend, product_module → OneHotEncoder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</a:rPr>
              <a:t>Feature Matrix: 100 SVD text components + 40 structured features = 140-column unified feature vector per ticket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Development Journey &amp; Ablation Study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6012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96012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37083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Key Insight: Text alone drives ~90% accuracy. Structured metadata adds robustness — especially for ambiguous tickets. Random Forest was champion in Joint Hyperparameter Tuning (F1: 0.8853).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Random Forest? — Model Selection Defense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144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Champion: Random Forest on Combined Features (max_features=2,500 | n_components=50 | ngram=(1,1) | min_df=2)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645920"/>
            <a:ext cx="269748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373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Joint Tuning Champion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11480" y="21214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Exhaustive RandomizedSearchCV across all models and TF-IDF/SVD parameters confirmed Random Forest as the undisputed champion with Weighted F1 = 0.8853.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0" y="1645920"/>
            <a:ext cx="269748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7373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Bagging vs. SVD Noise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291840" y="21214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Random Forest's bagging approach is highly effective at preventing overfitting to noise from dense SVD text embeddings — a known limitation of boosting methods on such data.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080760" y="1645920"/>
            <a:ext cx="269748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73736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1719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Native Class Imbalance Handling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172200" y="21214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class_weight='balanced' parameter natively corrects for TechNova's imbalanced department distribution (Technical/Billing dominant, Security minority).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0040" y="3154680"/>
            <a:ext cx="269748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4612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3227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Interpretable Feature Importance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11480" y="363016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Unlike black-box boosters, Random Forest provides clear feature importance, letting stakeholders see which keywords and metadata drive routing decisions.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200400" y="3154680"/>
            <a:ext cx="269748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24612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703320" y="3227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Business Metadata Synergy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3291840" y="363016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Tree-based splits naturally capture interactions between customer_tier, product_module, and text semantics — the combined signal TechNova's data provides.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080760" y="3154680"/>
            <a:ext cx="2697480" cy="1371600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46120"/>
            <a:ext cx="347472" cy="347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583680" y="32278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Statistical Significance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172200" y="363016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25-fold Repeated Stratified K-Fold CV with 95% Confidence Intervals showed no statistically meaningful difference from LightGBM — making interpretability the deciding factor.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Threshold Calibration — Cost-Sensitive Routing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63240" cy="749808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042416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960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870448" y="1261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Default argmax rule treats all departments equally — missing Security tickets carries severe business risk.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60720" y="1783080"/>
            <a:ext cx="3063240" cy="749808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91109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364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870448" y="21305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Lower Security threshold to 12.5%. If P(Security) ≥ 0.125, route to Security — regardless of other class scores.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760720" y="2651760"/>
            <a:ext cx="3063240" cy="749808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277977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Result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870448" y="29992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Security Recall &gt;90% achieved. False positives for Security are acceptable — failing to catch a breach is not.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760720" y="3520440"/>
            <a:ext cx="3063240" cy="749808"/>
          </a:xfrm>
          <a:prstGeom prst="rect">
            <a:avLst/>
          </a:prstGeom>
          <a:solidFill>
            <a:srgbClr val="F0F7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3648456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6364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Onboarding Protected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870448" y="3867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Analysis confirmed Onboarding Precision stays &gt;90% — new customer experience is not sacrificed by this adjustment.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20040" y="4498848"/>
            <a:ext cx="850392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57200" y="44988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Optimal Threshold: 0.125 — dynamically identified to satisfy the &gt;90% Security Recall business constraint.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 Model Works — 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1234440" cy="1371600"/>
          </a:xfrm>
          <a:prstGeom prst="rect">
            <a:avLst/>
          </a:prstGeom>
          <a:solidFill>
            <a:srgbClr val="1B2F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" y="1508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Arrives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435608" y="1600200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691640" y="914400"/>
            <a:ext cx="1234440" cy="1371600"/>
          </a:xfrm>
          <a:prstGeom prst="rect">
            <a:avLst/>
          </a:prstGeom>
          <a:solidFill>
            <a:srgbClr val="0077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100584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1508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926080" y="1600200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182112" y="914400"/>
            <a:ext cx="1234440" cy="1371600"/>
          </a:xfrm>
          <a:prstGeom prst="rect">
            <a:avLst/>
          </a:prstGeom>
          <a:solidFill>
            <a:srgbClr val="0077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100584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82112" y="1508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416552" y="1600200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672584" y="914400"/>
            <a:ext cx="1234440" cy="13716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100584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72584" y="1508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Forest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07024" y="1600200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163056" y="914400"/>
            <a:ext cx="1234440" cy="137160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1005840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63056" y="1508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7397496" y="1600200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7653528" y="914400"/>
            <a:ext cx="1234440" cy="1371600"/>
          </a:xfrm>
          <a:prstGeom prst="rect">
            <a:avLst/>
          </a:prstGeom>
          <a:solidFill>
            <a:srgbClr val="2EC4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1005840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53528" y="1508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Dept.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20040" y="2468880"/>
            <a:ext cx="8503920" cy="38404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457200" y="24688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Latent Semantic Concepts Learned by the Model (TF-IDF → SVD Components)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320040" y="2944368"/>
            <a:ext cx="269748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393192" y="2990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77A8"/>
                </a:solidFill>
              </a:rPr>
              <a:t>Concept 1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393192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General Support &amp; Urgency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393192" y="3447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check, team, service, urgent, help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200400" y="2944368"/>
            <a:ext cx="269748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3273552" y="2990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77A8"/>
                </a:solidFill>
              </a:rPr>
              <a:t>Concept 2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273552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Incident &amp; Resolution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3273552" y="3447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problem, details, broken, resolved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080760" y="2944368"/>
            <a:ext cx="269748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6153912" y="2990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77A8"/>
                </a:solidFill>
              </a:rPr>
              <a:t>Concept 3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153912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Active Troubleshooting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153912" y="34472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issue, working, change, urgent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320040" y="3858768"/>
            <a:ext cx="269748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393192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77A8"/>
                </a:solidFill>
              </a:rPr>
              <a:t>Concept 4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393192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 &amp; Status Tracking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393192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time, yesterday, update, problem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3200400" y="3858768"/>
            <a:ext cx="269748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3273552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77A8"/>
                </a:solidFill>
              </a:rPr>
              <a:t>Concept 5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3273552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Account &amp; System Performance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3273552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loading, account, change,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Critical Reflections — Key Learning &amp; Design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50292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005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875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Why Unigrams, Not Bigrams?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371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Single keywords like 'timeout', 'phishing', 'overcharge' are the primary routing signals. Bigrams added sparsity without meaningful lift. Bigram-only models would miss standalone high-value terms entirely.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6052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50292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0058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98755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Would Word Embeddings Help?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03520" y="1371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Minimal marginal gain given short, keyword-rich tickets already at 88-90% accuracy. The switch would require significantly more compute, memory, and inference time — reducing interpretability with little upside.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2331720"/>
            <a:ext cx="416052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0040" y="2331720"/>
            <a:ext cx="50292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4231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4048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Bag-of-Words Cost?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14400" y="278892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Word order is lost ('update broke system' = 'system broke update'), but for routing purposes the presence of 'broke' and 'update' alone suffices. The cost did not materially impact performance.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331720"/>
            <a:ext cx="416052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09160" y="2331720"/>
            <a:ext cx="50292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24231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24048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If Text Were Unavailable?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0" y="278892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Performance would collapse from ~88% to ~20% F1. The model would perform worse than a majority-class baseline — not worth deploying. Text is the irreplaceable core signal.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" y="3749040"/>
            <a:ext cx="416052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20040" y="3749040"/>
            <a:ext cx="50292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84048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382219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What If 10× More Data?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14400" y="420624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TF-IDF and SVD would benefit most — richer vocabulary, more nuanced latent components. Random Forest would map deeper interactions without memorizing noise. Structured preprocessing shows diminishing returns.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09160" y="3749040"/>
            <a:ext cx="4160520" cy="12801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09160" y="3749040"/>
            <a:ext cx="502920" cy="12801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384048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03520" y="382219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Distribution Shift Risk?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03520" y="420624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If Security tickets surged from minority to majority class, the 12.5% threshold would flood the Security team with false positives. Model would need retraining and full recalibration — a key monitoring trigger.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Metrics &amp; Business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23444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88.5%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Weighted F1-Score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25-fold repeated CV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23444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&gt;90%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 Recall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At threshold 0.125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234440"/>
          </a:xfrm>
          <a:prstGeom prst="rect">
            <a:avLst/>
          </a:prstGeom>
          <a:solidFill>
            <a:srgbClr val="2EC4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&gt;90%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Onboarding Precision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New customer accuracy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2344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~85%+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6656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Overall Routing 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F0F8"/>
                </a:solidFill>
              </a:rPr>
              <a:t>vs inconsistent manual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286000"/>
            <a:ext cx="8503920" cy="384048"/>
          </a:xfrm>
          <a:prstGeom prst="rect">
            <a:avLst/>
          </a:prstGeom>
          <a:solidFill>
            <a:srgbClr val="1B2F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ESTIMATED BUSINESS IMPACT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97480"/>
          <a:ext cx="8503920" cy="20848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State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 Model (Estimated)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Business Impact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Resolution Time (misrouted)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14.8 hours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4–6 hours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↓ 60–70% faster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Customer Satisfaction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+22 points (est.)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↑ Improved experience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Annual Labor Cost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High (manual routing)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Reduced significantly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≈ $1.2M savings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Routing Accuracy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Manual, inconsistent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~85%+ automated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↓ Fewer reroutes &amp; escalations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Security Incident Miss Rate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Unknown / High Risk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&lt; 10% miss rate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↓ Critical risk mitigated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 Analysis &amp; Known Failure Modes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914400"/>
            <a:ext cx="4251960" cy="914400"/>
          </a:xfrm>
          <a:prstGeom prst="rect">
            <a:avLst/>
          </a:prstGeom>
          <a:solidFill>
            <a:srgbClr val="F0F7FA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0058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02352" y="969264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Feature Request — Hardest Class (22.4% errors)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81728" y="1298448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Shares heavy semantic overlap with Technical and Security. Words like 'change', 'update', 'fix' appear across multiple departments, making disambiguation difficult.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0" y="1938528"/>
            <a:ext cx="4251960" cy="914400"/>
          </a:xfrm>
          <a:prstGeom prst="rect">
            <a:avLst/>
          </a:prstGeom>
          <a:solidFill>
            <a:srgbClr val="F0F7FA"/>
          </a:solidFill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02996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02352" y="1993392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Security False Positives — Intended Behavior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681728" y="2322576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aggressive 12.5% threshold intentionally flags borderline tickets as Security. This is by design — preventing missed incidents outweighs the cost of extra reviews.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0" y="2962656"/>
            <a:ext cx="4251960" cy="914400"/>
          </a:xfrm>
          <a:prstGeom prst="rect">
            <a:avLst/>
          </a:prstGeom>
          <a:solidFill>
            <a:srgbClr val="F0F7F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05409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02352" y="301752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Technical ↔ Account — Tolerable Soft Failures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81728" y="3346704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Occasional misclassifications between these departments are low-cost errors — tickets can be quickly transferred internally with minimal customer impact.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572000" y="3986784"/>
            <a:ext cx="4251960" cy="914400"/>
          </a:xfrm>
          <a:prstGeom prst="rect">
            <a:avLst/>
          </a:prstGeom>
          <a:solidFill>
            <a:srgbClr val="F0F7FA"/>
          </a:solidFill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078224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02352" y="404164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Onboarding — Protected Category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681728" y="4370832"/>
            <a:ext cx="4050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Onboarding Precision stays &gt;90% consistently. New customers are rarely misrouted into the Onboarding queue — protecting the critical first-impression experience.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3200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Security error rate reduced post-threshold calibration from default argmax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Next Steps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144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RECOMMENDATION: Proceed with a 90-Day Pilot Deployment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" y="1664208"/>
            <a:ext cx="2697480" cy="324612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269748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166420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(Days 1–30)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1664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Pilot Deployment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423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Deploy model in shadow mode alongside manual routing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3044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Track routing accuracy vs manual baseline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6667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Focus monitoring on Security &amp; Onboarding queues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428853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Gather department lead feedback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664208"/>
            <a:ext cx="2697480" cy="324612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00400" y="1664208"/>
            <a:ext cx="269748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0" y="166420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(Days 31–60)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06240" y="1664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 &amp; Tuning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91840" y="2423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Compare resolution times: automated vs manual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91840" y="3044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Recalibrate Security threshold if distribution shifts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91840" y="36667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A/B test full automation on low-risk ticket types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91840" y="428853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Measure customer satisfaction delta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80760" y="1664208"/>
            <a:ext cx="2697480" cy="324612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080760" y="1664208"/>
            <a:ext cx="269748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080760" y="166420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Phase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(Days 61–90)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86600" y="16642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Full Rollout Decision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72200" y="2423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If KPIs met: proceed to full-scale deployment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172200" y="3044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Establish quarterly model retraining cadence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72200" y="36667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Set monitoring alerts for distributional drift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72200" y="428853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→ </a:t>
            </a:r>
            <a:r>
              <a:rPr lang="en-US" sz="1100" dirty="0">
                <a:solidFill>
                  <a:srgbClr val="0D1B2A"/>
                </a:solidFill>
              </a:rPr>
              <a:t>Consider embedding models for ambiguous short tickets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0077A8">
              <a:alpha val="25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B4D8"/>
                </a:solidFill>
              </a:rPr>
              <a:t>IN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The Right Ticket,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The Right Department,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Every Time.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✓ </a:t>
            </a:r>
            <a:r>
              <a:rPr lang="en-US" sz="1300" dirty="0">
                <a:solidFill>
                  <a:srgbClr val="FFFFFF"/>
                </a:solidFill>
              </a:rPr>
              <a:t>Random Forest on combined text + metadata — Weighted F1: 88.5%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✓ </a:t>
            </a:r>
            <a:r>
              <a:rPr lang="en-US" sz="1300" dirty="0">
                <a:solidFill>
                  <a:srgbClr val="FFFFFF"/>
                </a:solidFill>
              </a:rPr>
              <a:t>Security Recall &gt;90% via cost-sensitive 12.5% threshold calibration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✓ </a:t>
            </a:r>
            <a:r>
              <a:rPr lang="en-US" sz="1300" dirty="0">
                <a:solidFill>
                  <a:srgbClr val="FFFFFF"/>
                </a:solidFill>
              </a:rPr>
              <a:t>Estimated $1.2M annual savings + 60–70% resolution time reduction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✓ </a:t>
            </a:r>
            <a:r>
              <a:rPr lang="en-US" sz="1300" dirty="0">
                <a:solidFill>
                  <a:srgbClr val="FFFFFF"/>
                </a:solidFill>
              </a:rPr>
              <a:t>90-day pilot recommended before full-scale deployment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1614</Words>
  <Application>Microsoft Macintosh PowerPoint</Application>
  <PresentationFormat>On-screen Show (16:9)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TechNova Automated Ticket Routing — AI Solution Presentation</dc:title>
  <dc:subject>PptxGenJS Presentation</dc:subject>
  <dc:creator>PptxGenJS</dc:creator>
  <cp:lastModifiedBy>Mrunali Dhakate</cp:lastModifiedBy>
  <cp:revision>5</cp:revision>
  <dcterms:created xsi:type="dcterms:W3CDTF">2026-05-06T18:15:49Z</dcterms:created>
  <dcterms:modified xsi:type="dcterms:W3CDTF">2026-05-19T20:59:02Z</dcterms:modified>
</cp:coreProperties>
</file>